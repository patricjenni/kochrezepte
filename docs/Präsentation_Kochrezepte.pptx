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35" r:id="rId5"/>
    <p:sldId id="336" r:id="rId6"/>
    <p:sldId id="348" r:id="rId7"/>
    <p:sldId id="350" r:id="rId8"/>
    <p:sldId id="349" r:id="rId9"/>
    <p:sldId id="351" r:id="rId10"/>
    <p:sldId id="352" r:id="rId11"/>
    <p:sldId id="353" r:id="rId12"/>
    <p:sldId id="354" r:id="rId13"/>
    <p:sldId id="355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5394" autoAdjust="0"/>
  </p:normalViewPr>
  <p:slideViewPr>
    <p:cSldViewPr snapToGrid="0">
      <p:cViewPr varScale="1">
        <p:scale>
          <a:sx n="102" d="100"/>
          <a:sy n="102" d="100"/>
        </p:scale>
        <p:origin x="150" y="228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3D2E275-B3B1-4A98-9807-BF2BEB2849A0}" type="datetime1">
              <a:rPr lang="de-DE" smtClean="0"/>
              <a:t>14.01.2026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9E9D563E-BCB2-465B-8A3C-AC86CE64F69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769EE9FE-C7F7-4791-B5A9-5EF1007D921C}" type="datetime1">
              <a:rPr lang="de-DE" smtClean="0"/>
              <a:pPr/>
              <a:t>14.01.2026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8B990660-4B7D-4C11-96DB-B19FFA8CA9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F814-8124-931A-FDE2-45889BF6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ECB47DB-5391-FC61-5902-462138809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48431B-BBFA-79DF-D103-7FFA4CDB3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B11858-684F-C776-38AE-7C8C4CFE5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42611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1E4B-C1B7-FF23-DD6A-FE73271A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C51AE92-030F-5499-6F85-B39B08EED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83075E-4339-DE34-472A-EC18FE89E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FA9A07-3181-8A76-0B07-525BA9C2C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72923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7571-92A7-B9F5-C127-332D32A7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D336165-3201-DCA9-C407-0B92FA9CF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444CD5-FDD4-E195-597D-A83F9C56B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FA9FFB-D40D-67FD-5828-C65A77A73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81811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6E55A-3EE8-012C-4BAE-D7F4DD5A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207465A-BF34-CBC0-AEDE-16083C6DB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324192-A7C1-85C8-8B35-22C586BD6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CE4A52-CDC3-CED3-368B-78CFA3041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6016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5739-7DC5-A897-32A5-2EFCAFFB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028B00-A3C7-2932-583A-2D973BA82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BED8DF1-3E73-7488-3DAF-7D1670B70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F3BB-1624-4025-51FC-B409C6F0D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43839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47E4-C6C5-8859-F31D-1CE3557F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479B315-8C0B-B1CD-8FA7-09792A5FF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E289AB9-756C-0785-CD15-F0C078C15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5708E1-2EC6-8CDB-B668-5E4226952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8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1900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2CD5-D363-BFB7-D112-37B63EAA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D9A89D-787A-22DF-1D56-39FAF7F53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924A95-CE72-75B2-0A00-E3BDD984A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BB7261-3722-EC89-27CC-F3DB1E0E9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9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2387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16079-4DD7-98F2-F0B1-468F4854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83C45EF-D622-DEBF-9263-4A587BA36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4738E01-4CF2-E14E-8240-383D33BFB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91FB5B-38EA-DA67-8D4B-629E11C37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10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65792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2545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91274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90959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12296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18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58588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19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876574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20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97884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21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de-DE" sz="4000" b="1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 </a:t>
            </a:r>
          </a:p>
          <a:p>
            <a:pPr lvl="3" rtl="0"/>
            <a:r>
              <a:rPr lang="de-DE"/>
              <a:t>Vierte Ebene </a:t>
            </a:r>
          </a:p>
          <a:p>
            <a:pPr lvl="4" rtl="0"/>
            <a:r>
              <a:rPr lang="de-DE"/>
              <a:t>Fünfte Ebene </a:t>
            </a:r>
          </a:p>
          <a:p>
            <a:pPr lvl="0"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de-DE" sz="40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de-DE" sz="40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de-DE" sz="2800"/>
            </a:lvl1pPr>
            <a:lvl2pPr marL="457200" indent="0">
              <a:buNone/>
              <a:defRPr lang="de-DE" sz="2400"/>
            </a:lvl2pPr>
            <a:lvl3pPr marL="914400" indent="0">
              <a:buNone/>
              <a:defRPr lang="de-DE" sz="2000"/>
            </a:lvl3pPr>
            <a:lvl4pPr marL="1371600" indent="0">
              <a:buNone/>
              <a:defRPr lang="de-DE" sz="1800"/>
            </a:lvl4pPr>
            <a:lvl5pPr marL="1828800" indent="0">
              <a:buNone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675" name="Textplatzhalt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de-DE" sz="2800"/>
            </a:lvl1pPr>
            <a:lvl2pPr marL="457200" indent="0">
              <a:lnSpc>
                <a:spcPts val="2400"/>
              </a:lnSpc>
              <a:buNone/>
              <a:defRPr lang="de-DE" sz="2000"/>
            </a:lvl2pPr>
            <a:lvl3pPr marL="914400" indent="0">
              <a:lnSpc>
                <a:spcPts val="2400"/>
              </a:lnSpc>
              <a:buNone/>
              <a:defRPr lang="de-DE" sz="2000"/>
            </a:lvl3pPr>
            <a:lvl4pPr marL="1371600" indent="0">
              <a:lnSpc>
                <a:spcPts val="2400"/>
              </a:lnSpc>
              <a:buNone/>
              <a:defRPr lang="de-DE" sz="2000"/>
            </a:lvl4pPr>
            <a:lvl5pPr marL="1828800" indent="0">
              <a:lnSpc>
                <a:spcPts val="2400"/>
              </a:lnSpc>
              <a:buNone/>
              <a:defRPr lang="de-DE" sz="2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5pPr>
            <a:lvl6pPr marL="1600200">
              <a:defRPr lang="de-DE"/>
            </a:lvl6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4" rtl="0"/>
            <a:r>
              <a:rPr lang="de-DE"/>
              <a:t>Vierte Ebene</a:t>
            </a:r>
          </a:p>
          <a:p>
            <a:pPr lvl="5" rtl="0"/>
            <a:r>
              <a:rPr lang="de-DE"/>
              <a:t>Fünfte Ebene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de-DE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de-DE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de-DE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de-DE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de-DE"/>
            </a:lvl1pPr>
            <a:lvl2pPr>
              <a:spcBef>
                <a:spcPts val="0"/>
              </a:spcBef>
              <a:spcAft>
                <a:spcPts val="600"/>
              </a:spcAft>
              <a:defRPr lang="de-DE"/>
            </a:lvl2pPr>
            <a:lvl3pPr>
              <a:spcBef>
                <a:spcPts val="0"/>
              </a:spcBef>
              <a:spcAft>
                <a:spcPts val="600"/>
              </a:spcAft>
              <a:defRPr lang="de-DE"/>
            </a:lvl3pPr>
            <a:lvl4pPr>
              <a:spcBef>
                <a:spcPts val="0"/>
              </a:spcBef>
              <a:spcAft>
                <a:spcPts val="600"/>
              </a:spcAft>
              <a:defRPr lang="de-DE" sz="2000"/>
            </a:lvl4pPr>
            <a:lvl5pPr>
              <a:spcBef>
                <a:spcPts val="0"/>
              </a:spcBef>
              <a:spcAft>
                <a:spcPts val="6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de-DE" sz="40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 </a:t>
            </a:r>
          </a:p>
          <a:p>
            <a:pPr lvl="3" rtl="0"/>
            <a:r>
              <a:rPr lang="de-DE"/>
              <a:t>Vierte Ebene </a:t>
            </a:r>
          </a:p>
          <a:p>
            <a:pPr lvl="4" rtl="0"/>
            <a:r>
              <a:rPr lang="de-DE"/>
              <a:t>Fünfte Ebene </a:t>
            </a:r>
          </a:p>
          <a:p>
            <a:pPr lvl="0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grpSp>
        <p:nvGrpSpPr>
          <p:cNvPr id="815" name="Gruppieren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372524" cy="305634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Webseitenprojekt</a:t>
            </a:r>
            <a:br>
              <a:rPr lang="de-DE" dirty="0"/>
            </a:br>
            <a:br>
              <a:rPr lang="de-DE" dirty="0"/>
            </a:br>
            <a:r>
              <a:rPr lang="de-DE" dirty="0"/>
              <a:t>Kochrezepte </a:t>
            </a:r>
            <a:br>
              <a:rPr lang="de-DE" dirty="0"/>
            </a:br>
            <a:r>
              <a:rPr lang="de-DE" dirty="0"/>
              <a:t>für</a:t>
            </a:r>
            <a:br>
              <a:rPr lang="de-DE" dirty="0"/>
            </a:br>
            <a:r>
              <a:rPr lang="de-DE" dirty="0"/>
              <a:t>Entwickler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Agenda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Einführung</a:t>
            </a:r>
          </a:p>
          <a:p>
            <a:pPr rtl="0"/>
            <a:r>
              <a:rPr lang="de-DE" dirty="0"/>
              <a:t>Vertrauen aufbauen</a:t>
            </a:r>
          </a:p>
          <a:p>
            <a:pPr rtl="0"/>
            <a:r>
              <a:rPr lang="de-DE" dirty="0"/>
              <a:t>Einbindung des Publikums</a:t>
            </a:r>
          </a:p>
          <a:p>
            <a:pPr rtl="0"/>
            <a:r>
              <a:rPr lang="de-DE" dirty="0"/>
              <a:t>Visuelle Hilfen</a:t>
            </a:r>
          </a:p>
          <a:p>
            <a:pPr rtl="0"/>
            <a:r>
              <a:rPr lang="de-DE" dirty="0"/>
              <a:t>Letzte Tipps und Erkenntnisse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89CD-F977-B0D1-E380-A8A6EAB3D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BEC3F-5F22-D63C-2AE4-EA6DF6E7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Projektvorstellung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6320CE-D25E-FBB4-120F-C665DC18DD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warum haben Sie sich für das Projekt entschieden?</a:t>
            </a:r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C6DE1D-E5CD-B5AA-7370-75F8B21B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166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0DE9-A985-89C4-3AC5-918FCAB8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C4D66-B239-78B4-50AD-BC4C440B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CH" dirty="0"/>
              <a:t>Vorstellung Website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C49255-9A14-ECF5-8EC7-5CCBE755F9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warum haben Sie sich für das Projekt entschieden?</a:t>
            </a:r>
          </a:p>
          <a:p>
            <a:r>
              <a:rPr lang="de-CH" dirty="0"/>
              <a:t>TIPP: </a:t>
            </a:r>
            <a:r>
              <a:rPr lang="de-CH" dirty="0" err="1"/>
              <a:t>Wenns</a:t>
            </a:r>
            <a:r>
              <a:rPr lang="de-CH" dirty="0"/>
              <a:t> nicht gut lief, warum? Negatives Feedback ist erwünscht.</a:t>
            </a:r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984FF7-C521-4994-5D11-9A0ADDCA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958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4A39-2DBF-3C9F-1C06-7DECE11E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BF178-2B6B-BB17-8B3A-56B578B8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CH" dirty="0" err="1"/>
              <a:t>Websitendesign</a:t>
            </a:r>
            <a:r>
              <a:rPr lang="de-CH" dirty="0"/>
              <a:t>-sprache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1AE23E-9158-E3B5-88F4-A0CF74FA5E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Warum haben Sie dieses Design gewählt?</a:t>
            </a:r>
          </a:p>
          <a:p>
            <a:r>
              <a:rPr lang="de-CH" dirty="0"/>
              <a:t>Welche Emotionen lässt euch das Design sie fühlen? Warum passt diese Emotion zum Projektgegenstand?</a:t>
            </a:r>
            <a:br>
              <a:rPr lang="de-CH" dirty="0"/>
            </a:br>
            <a:endParaRPr lang="de-CH" dirty="0"/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8742E5-EA8A-1103-65CC-212E0F89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705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B8F8D-5AB9-F784-A2FE-858C234E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B290A-E15C-F76D-9E5F-987E5D46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CH" dirty="0" err="1"/>
              <a:t>Accessibility</a:t>
            </a:r>
            <a:r>
              <a:rPr lang="de-CH" dirty="0"/>
              <a:t> 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676976-4385-8064-1227-6CD083C42D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welche zwei Elemente haben Ihr eingebaut und warum genau diese?</a:t>
            </a:r>
            <a:br>
              <a:rPr lang="de-CH" dirty="0"/>
            </a:br>
            <a:endParaRPr lang="de-CH" dirty="0"/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8FA122C-372F-AAE9-E030-B2F4B5D0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817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0084-5493-2FF3-F93E-76C18553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343DC-7DF1-93F0-AE73-A38F84FEE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CH" dirty="0" err="1"/>
              <a:t>Responsiveness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263B92-C538-6DF5-A990-E0F89FE29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Warum haben Sie dieses Design gewählt?</a:t>
            </a:r>
          </a:p>
          <a:p>
            <a:r>
              <a:rPr lang="de-CH" dirty="0"/>
              <a:t>Welche Emotionen lässt euch das Design sie fühlen? Warum passt diese Emotion zum Projektgegenstand?</a:t>
            </a:r>
            <a:br>
              <a:rPr lang="de-CH" dirty="0"/>
            </a:br>
            <a:endParaRPr lang="de-CH" dirty="0"/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0EFCDB2-50DB-A8F2-EAB7-FFA53B1E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725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38DD-0CE1-56B7-9217-D181087D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7A903-6DE0-0B5E-89E8-1867C3C6D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CH" dirty="0"/>
              <a:t>Vorstellung </a:t>
            </a:r>
            <a:r>
              <a:rPr lang="de-CH" dirty="0" err="1"/>
              <a:t>Websitendesignsprache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EDFA6C-AEE2-2A61-29D7-71D97F1C5C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Wie haben Sie das umgesetzt? </a:t>
            </a:r>
          </a:p>
          <a:p>
            <a:r>
              <a:rPr lang="de-CH" dirty="0"/>
              <a:t>Warum auf diesem Wege?</a:t>
            </a:r>
            <a:br>
              <a:rPr lang="de-CH" dirty="0"/>
            </a:br>
            <a:endParaRPr lang="de-CH" dirty="0"/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B94C7D1-E4AC-0081-9555-4474672D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348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5D4E-FB00-4BDA-1CA9-002398B0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5C794-17F2-48FB-7CA2-D905626EA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CH" dirty="0"/>
              <a:t>…..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A78F71-4BE6-D7DD-E5D1-659DBA94E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(optional) Platz für extra Features, die über den normalen Übungsverlauf hinausgehen </a:t>
            </a:r>
            <a:r>
              <a:rPr lang="de-CH" dirty="0" err="1"/>
              <a:t>max</a:t>
            </a:r>
            <a:r>
              <a:rPr lang="de-CH" dirty="0"/>
              <a:t> 2 Bonus-Punkte. </a:t>
            </a:r>
          </a:p>
          <a:p>
            <a:pPr marL="0" indent="0">
              <a:buNone/>
            </a:pPr>
            <a:r>
              <a:rPr lang="de-CH" dirty="0"/>
              <a:t>Wichtig: Um die Punkte zu holen, müssen Sie etwas Technisches im Bereich HTML/CSS vorzeigen, nur mehr Text/Bilder auf die Website zu werfen genügt nicht.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Bitte beachten Sie, dass es im Verlauf der Benotung insgesamt nur 2 BP gibt, die Bonusaufgaben sollten Sie hier vorstellen. Die Vorstellung der Bonusaufgabe hier gibt dann die angegebene Bonus-Punktzahl.</a:t>
            </a:r>
            <a:br>
              <a:rPr lang="de-CH" dirty="0"/>
            </a:b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D58E41-6CE3-F6E8-2427-82CC59E0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7947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AF6A6-D041-BC35-C7E5-0243D19E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35633C-0CE7-AA16-56FC-C8DCE58F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pPr lvl="0"/>
            <a:r>
              <a:rPr lang="de-CH" dirty="0"/>
              <a:t>Kontrollfragen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6BBB1C-4C0D-B6DC-0122-AB2FDE55BC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CH" dirty="0"/>
              <a:t>3 Fragen zum Verständnis</a:t>
            </a:r>
            <a:br>
              <a:rPr lang="de-CH" dirty="0"/>
            </a:br>
            <a:endParaRPr lang="de-CH" dirty="0"/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E3A5B5-E447-F65E-1936-91778BF7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8686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Die Macht der Kommunikation</a:t>
            </a:r>
          </a:p>
        </p:txBody>
      </p:sp>
      <p:pic>
        <p:nvPicPr>
          <p:cNvPr id="10" name="Bildplatzhalter 9" descr="Eine Person, die am Computer lächelt">
            <a:extLst>
              <a:ext uri="{FF2B5EF4-FFF2-40B4-BE49-F238E27FC236}">
                <a16:creationId xmlns:a16="http://schemas.microsoft.com/office/drawing/2014/main" id="{0E7DFFA9-9901-3CE7-AAC2-C1754C65B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" r="18"/>
          <a:stretch/>
        </p:blipFill>
        <p:spPr>
          <a:xfrm>
            <a:off x="7625969" y="-9144"/>
            <a:ext cx="4581525" cy="6602413"/>
          </a:xfrm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Nervosität überwinden</a:t>
            </a:r>
          </a:p>
        </p:txBody>
      </p:sp>
      <p:pic>
        <p:nvPicPr>
          <p:cNvPr id="12" name="Bildplatzhalter 11" descr="Eine Person in einem gelben Hemd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4084320"/>
            <a:ext cx="5864225" cy="236283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Strategien zur Vertrauensbildung</a:t>
            </a:r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Einbindung des Publikums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 fontScale="85000" lnSpcReduction="10000"/>
          </a:bodyPr>
          <a:lstStyle>
            <a:defPPr>
              <a:defRPr lang="de-DE"/>
            </a:defPPr>
          </a:lstStyle>
          <a:p>
            <a:pPr rtl="0"/>
            <a:r>
              <a:rPr lang="de-DE"/>
              <a:t>Stellen Sie Augenkontakt mit Ihrem Publikum her, um ein Gefühl von Vertrautheit und Beteiligung zu erzeugen.</a:t>
            </a:r>
          </a:p>
          <a:p>
            <a:pPr rtl="0"/>
            <a:r>
              <a:rPr lang="de-DE"/>
              <a:t>Binden Sie glaubwürdige Geschichten in Ihre Präsentation ein und verwenden Sie Erzählungen, die Ihre Botschaft einprägsam und überzeugend machen.</a:t>
            </a:r>
          </a:p>
          <a:p>
            <a:pPr rtl="0"/>
            <a:r>
              <a:rPr lang="de-DE"/>
              <a:t>Ermutigen Sie zu Fragen und geben Sie durchdachte Antworten, um die Beteiligung des Publikums zu fördern.</a:t>
            </a:r>
          </a:p>
          <a:p>
            <a:pPr rtl="0"/>
            <a:r>
              <a:rPr lang="de-DE"/>
              <a:t>Verwenden Sie Live-Abstimmungen oder Umfragen, um die Meinung des Publikums einzuholen, das Engagement zu fördern und dafür zu sorgen, dass sich das Publikum einbezogen fühlt.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Auswählen visueller Hilfen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Verbessern Ihrer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Effektive Präsentationstechniken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Dies ist ein mächtiges Werkzeug beim öffentlichen Reden. Dabei werden Tonhöhe, Tonfall und Lautstärke variiert, um Emotionen zu vermitteln, Punkte zu betonen und das Interesse aufrechtzuerhalten: </a:t>
            </a:r>
          </a:p>
          <a:p>
            <a:pPr lvl="1" rtl="0"/>
            <a:r>
              <a:rPr lang="de-DE" dirty="0"/>
              <a:t>Tonhöhenvariation</a:t>
            </a:r>
          </a:p>
          <a:p>
            <a:pPr lvl="1" rtl="0"/>
            <a:r>
              <a:rPr lang="de-DE" dirty="0"/>
              <a:t>Tonfall</a:t>
            </a:r>
          </a:p>
          <a:p>
            <a:pPr lvl="1" rtl="0"/>
            <a:r>
              <a:rPr lang="de-DE" dirty="0"/>
              <a:t>Lautstärkeregelung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E5B1204-B9F7-0D66-EBAA-9265C1E35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10644" y="2073275"/>
            <a:ext cx="4887594" cy="368776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Eine wirkungsvolle Körpersprache unterstreicht Ihre Botschaft und macht sie eindrucksvoller und einprägsamer:</a:t>
            </a:r>
          </a:p>
          <a:p>
            <a:pPr lvl="1" rtl="0"/>
            <a:r>
              <a:rPr lang="de-DE" dirty="0"/>
              <a:t>Aussagekräftiger Augenkontakt</a:t>
            </a:r>
          </a:p>
          <a:p>
            <a:pPr lvl="1" rtl="0"/>
            <a:r>
              <a:rPr lang="de-DE" dirty="0"/>
              <a:t>Gezielte Gesten</a:t>
            </a:r>
          </a:p>
          <a:p>
            <a:pPr lvl="1" rtl="0"/>
            <a:r>
              <a:rPr lang="de-DE" dirty="0"/>
              <a:t>Gute Körperhaltung beibehalten</a:t>
            </a:r>
          </a:p>
          <a:p>
            <a:pPr lvl="1" rtl="0"/>
            <a:r>
              <a:rPr lang="de-DE" dirty="0"/>
              <a:t>Kontrollieren Ihrer Ausdrucksweise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Fragen-und-Antworten-Sitzungen leiten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97CD95-A6D1-C7C3-F7D9-C0AB6438B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3144837" cy="368776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Sich im Voraus mit Ihrem Material vertraut machen</a:t>
            </a:r>
          </a:p>
          <a:p>
            <a:pPr rtl="0"/>
            <a:r>
              <a:rPr lang="de-DE" dirty="0"/>
              <a:t>Antizipieren von häufig gestellten Fragen</a:t>
            </a:r>
          </a:p>
          <a:p>
            <a:pPr rtl="0"/>
            <a:r>
              <a:rPr lang="de-DE" dirty="0"/>
              <a:t>Einüben Ihrer Antworten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7454D1F-D2CD-3356-639E-75B37DE30F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56760" y="2073275"/>
            <a:ext cx="6192838" cy="368776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Um Selbstvertrauen und Autorität auszudrücken, ist es wichtig, während der Frage-und-Antwort-Runde Gelassenheit zu bewahren. Beachten Sie die folgenden Tipps, um gelassen zu bleiben:</a:t>
            </a:r>
          </a:p>
          <a:p>
            <a:pPr lvl="1" rtl="0"/>
            <a:r>
              <a:rPr lang="de-DE" dirty="0"/>
              <a:t>Ruhig bleiben</a:t>
            </a:r>
          </a:p>
          <a:p>
            <a:pPr lvl="1" rtl="0"/>
            <a:r>
              <a:rPr lang="de-DE" dirty="0"/>
              <a:t>Aktiv zuhören</a:t>
            </a:r>
          </a:p>
          <a:p>
            <a:pPr lvl="1" rtl="0"/>
            <a:r>
              <a:rPr lang="de-DE" dirty="0"/>
              <a:t>Innehalten und nachdenken</a:t>
            </a:r>
          </a:p>
          <a:p>
            <a:pPr lvl="1" rtl="0"/>
            <a:r>
              <a:rPr lang="de-DE" dirty="0"/>
              <a:t>Augenkontakt beibehalten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Wirkung der Rede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87880"/>
            <a:ext cx="10210800" cy="195469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Ihre Fähigkeit, effektiv zu kommunizieren, wird einen bleibenden Eindruck bei Ihrem Publikum hinterlassen.</a:t>
            </a:r>
          </a:p>
          <a:p>
            <a:pPr rtl="0"/>
            <a:r>
              <a:rPr lang="de-DE"/>
              <a:t>Zu einer effektiven Kommunikation gehört nicht nur die Übermittlung einer Botschaft, sondern auch die Auseinandersetzung mit den Erfahrungen, Werten und Emotionen der Zuhörer. 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17</a:t>
            </a:fld>
            <a:endParaRPr lang="de-DE" dirty="0"/>
          </a:p>
        </p:txBody>
      </p:sp>
      <p:pic>
        <p:nvPicPr>
          <p:cNvPr id="10" name="Bildplatzhalter 9" descr="Eine Person, die ein blaues Kopftuch trägt">
            <a:extLst>
              <a:ext uri="{FF2B5EF4-FFF2-40B4-BE49-F238E27FC236}">
                <a16:creationId xmlns:a16="http://schemas.microsoft.com/office/drawing/2014/main" id="{2DB9BC6B-625B-CD8D-FB1A-1E9EBC1544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962" b="962"/>
          <a:stretch/>
        </p:blipFill>
        <p:spPr>
          <a:xfrm>
            <a:off x="2179320" y="4094802"/>
            <a:ext cx="10027919" cy="2468880"/>
          </a:xfr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Dynamischer Vortrag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1FD557-D53B-0844-8823-CB2387248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26920"/>
            <a:ext cx="3017520" cy="3901758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Erfahren Sie, wie Sie Energie in Ihren Vortrag einfließen lassen, um einen bleibenden Eindruck zu hinterlassen.</a:t>
            </a:r>
          </a:p>
          <a:p>
            <a:pPr rtl="0"/>
            <a:r>
              <a:rPr lang="de-DE"/>
              <a:t>Eines der Ziele einer effektiven Kommunikation besteht darin, Ihre Zielgruppe zu motivieren.</a:t>
            </a:r>
          </a:p>
        </p:txBody>
      </p:sp>
      <p:graphicFrame>
        <p:nvGraphicFramePr>
          <p:cNvPr id="6" name="Tabellenplatzhalter 2">
            <a:extLst>
              <a:ext uri="{FF2B5EF4-FFF2-40B4-BE49-F238E27FC236}">
                <a16:creationId xmlns:a16="http://schemas.microsoft.com/office/drawing/2014/main" id="{0F79245D-314F-2B78-AB57-5196A89AD1B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99508583"/>
              </p:ext>
            </p:extLst>
          </p:nvPr>
        </p:nvGraphicFramePr>
        <p:xfrm>
          <a:off x="4525963" y="2027238"/>
          <a:ext cx="7137302" cy="39194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82543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12738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79310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334277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91983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Metrik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Messung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Ziel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Tatsächlich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68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Anwesenheit des Publikums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Anzahl der Teilnehmer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068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Vortragsdauer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Minuten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68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 dirty="0"/>
                        <a:t>Frage-Antwort-Interaktion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Anzahl der Fragen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068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Positives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6690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Rate der Informationsspeicherung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sz="180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Letzte Tipps und Erkenntnisse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Konsequentes Üben</a:t>
            </a:r>
          </a:p>
          <a:p>
            <a:pPr lvl="1" rtl="0"/>
            <a:r>
              <a:rPr lang="de-DE"/>
              <a:t>Stärken Ihrer Vertrautheit</a:t>
            </a:r>
          </a:p>
          <a:p>
            <a:pPr rtl="0"/>
            <a:r>
              <a:rPr lang="de-DE"/>
              <a:t>Vortragsstil verfeinern</a:t>
            </a:r>
          </a:p>
          <a:p>
            <a:pPr lvl="1" rtl="0"/>
            <a:r>
              <a:rPr lang="de-DE"/>
              <a:t>Tempo, Tonfall und Betonung</a:t>
            </a:r>
          </a:p>
          <a:p>
            <a:pPr rtl="0"/>
            <a:r>
              <a:rPr lang="de-DE"/>
              <a:t>Timing und Übergänge</a:t>
            </a:r>
          </a:p>
          <a:p>
            <a:pPr lvl="1" rtl="0"/>
            <a:r>
              <a:rPr lang="de-DE"/>
              <a:t>Streben Sie einen nahtlosen, professionellen Vortrag an.</a:t>
            </a:r>
          </a:p>
          <a:p>
            <a:pPr rtl="0"/>
            <a:r>
              <a:rPr lang="de-DE"/>
              <a:t>Übungspublikum</a:t>
            </a:r>
          </a:p>
          <a:p>
            <a:pPr lvl="1" rtl="0"/>
            <a:r>
              <a:rPr lang="de-DE"/>
              <a:t>Bitten Sie Ihre Kollegen, zuzuhören und Feedback zu geben.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A36326E3-7418-ADEF-0CFC-09C0C60DE1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95483" y="2058670"/>
            <a:ext cx="3002755" cy="368776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Feedback einholen</a:t>
            </a:r>
          </a:p>
          <a:p>
            <a:pPr rtl="0"/>
            <a:r>
              <a:rPr lang="de-DE"/>
              <a:t>Über Leistung nachdenken</a:t>
            </a:r>
          </a:p>
          <a:p>
            <a:pPr rtl="0"/>
            <a:r>
              <a:rPr lang="de-DE"/>
              <a:t>Erkunden neuer Techniken</a:t>
            </a:r>
          </a:p>
          <a:p>
            <a:pPr rtl="0"/>
            <a:r>
              <a:rPr lang="de-DE"/>
              <a:t>Persönliche Ziele festlegen</a:t>
            </a:r>
          </a:p>
          <a:p>
            <a:pPr rtl="0"/>
            <a:r>
              <a:rPr lang="de-DE"/>
              <a:t>Wiederholen und Anpassen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Fragen-und-Antworten-Sitzungen leiten </a:t>
            </a:r>
            <a:endParaRPr lang="de-DE" dirty="0"/>
          </a:p>
        </p:txBody>
      </p:sp>
      <p:graphicFrame>
        <p:nvGraphicFramePr>
          <p:cNvPr id="5" name="Tabellenplatzhalter 2">
            <a:extLst>
              <a:ext uri="{FF2B5EF4-FFF2-40B4-BE49-F238E27FC236}">
                <a16:creationId xmlns:a16="http://schemas.microsoft.com/office/drawing/2014/main" id="{C2599C7C-299A-2029-2887-5047F4D4A16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95797149"/>
              </p:ext>
            </p:extLst>
          </p:nvPr>
        </p:nvGraphicFramePr>
        <p:xfrm>
          <a:off x="911225" y="2043113"/>
          <a:ext cx="10363201" cy="3886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1907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4770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Einflussfaktor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Messung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Ziel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Erreicht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Publikumsinteraktion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Wissen bewahren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/>
                        <a:t>Umfragen nach der Präsentation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Durchschnittliche Bewertung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4,2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4,5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Empfehlungsrate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Möglichkeiten der Zusammenarbeit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Anzahl der Möglichkeiten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1044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Vielen Dank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Brita Tamm</a:t>
            </a:r>
          </a:p>
          <a:p>
            <a:pPr rtl="0"/>
            <a:r>
              <a:rPr lang="de-DE"/>
              <a:t>502-555-0152</a:t>
            </a:r>
          </a:p>
          <a:p>
            <a:pPr rtl="0"/>
            <a:r>
              <a:rPr lang="de-DE"/>
              <a:t>brita@firstupconsultants.com</a:t>
            </a:r>
          </a:p>
          <a:p>
            <a:pPr rtl="0"/>
            <a:r>
              <a:rPr lang="de-DE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511_TF16411248_Win32" id="{BA0B8D66-D66B-439B-A16C-724358E95992}" vid="{8BEFACD3-E35A-44FD-B3EA-29D825D78F8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{1D438B67-4936-4622-A4CD-218A36744BEE}tf16411248_win32</Template>
  <TotalTime>0</TotalTime>
  <Words>704</Words>
  <Application>Microsoft Office PowerPoint</Application>
  <PresentationFormat>Breitbild</PresentationFormat>
  <Paragraphs>168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Avenir Next LT Pro Light</vt:lpstr>
      <vt:lpstr>Calibri</vt:lpstr>
      <vt:lpstr>Posterama</vt:lpstr>
      <vt:lpstr>Benutzerdefiniert</vt:lpstr>
      <vt:lpstr>Webseitenprojekt  Kochrezepte  für Entwickler</vt:lpstr>
      <vt:lpstr>Agenda </vt:lpstr>
      <vt:lpstr>Projektvorstellung</vt:lpstr>
      <vt:lpstr>Vorstellung Website</vt:lpstr>
      <vt:lpstr>Websitendesign-sprache</vt:lpstr>
      <vt:lpstr>Accessibility </vt:lpstr>
      <vt:lpstr>Responsiveness</vt:lpstr>
      <vt:lpstr>Vorstellung Websitendesignsprache</vt:lpstr>
      <vt:lpstr>…..</vt:lpstr>
      <vt:lpstr>Kontrollfragen</vt:lpstr>
      <vt:lpstr>Die Macht der Kommunikation</vt:lpstr>
      <vt:lpstr>Nervosität überwinden</vt:lpstr>
      <vt:lpstr>Einbindung des Publikums</vt:lpstr>
      <vt:lpstr>Auswählen visueller Hilfen</vt:lpstr>
      <vt:lpstr>Effektive Präsentationstechniken</vt:lpstr>
      <vt:lpstr>Fragen-und-Antworten-Sitzungen leiten</vt:lpstr>
      <vt:lpstr>Wirkung der Rede</vt:lpstr>
      <vt:lpstr>Dynamischer Vortrag</vt:lpstr>
      <vt:lpstr>Letzte Tipps und Erkenntnisse</vt:lpstr>
      <vt:lpstr>Fragen-und-Antworten-Sitzungen leiten </vt:lpstr>
      <vt:lpstr>Vielen Dank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Schmidiger</dc:creator>
  <cp:lastModifiedBy>Pascal Schmidiger</cp:lastModifiedBy>
  <cp:revision>1</cp:revision>
  <dcterms:created xsi:type="dcterms:W3CDTF">2026-01-14T19:29:37Z</dcterms:created>
  <dcterms:modified xsi:type="dcterms:W3CDTF">2026-01-14T19:41:44Z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