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35" r:id="rId5"/>
    <p:sldId id="345" r:id="rId6"/>
    <p:sldId id="348" r:id="rId7"/>
    <p:sldId id="350" r:id="rId8"/>
    <p:sldId id="349" r:id="rId9"/>
    <p:sldId id="351" r:id="rId10"/>
    <p:sldId id="352" r:id="rId11"/>
    <p:sldId id="343" r:id="rId12"/>
    <p:sldId id="355" r:id="rId13"/>
    <p:sldId id="340" r:id="rId14"/>
    <p:sldId id="347" r:id="rId15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3" autoAdjust="0"/>
    <p:restoredTop sz="95394" autoAdjust="0"/>
  </p:normalViewPr>
  <p:slideViewPr>
    <p:cSldViewPr snapToGrid="0">
      <p:cViewPr varScale="1">
        <p:scale>
          <a:sx n="102" d="100"/>
          <a:sy n="102" d="100"/>
        </p:scale>
        <p:origin x="150" y="228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94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3D2E275-B3B1-4A98-9807-BF2BEB2849A0}" type="datetime1">
              <a:rPr lang="de-DE" smtClean="0"/>
              <a:t>14.01.2026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9E9D563E-BCB2-465B-8A3C-AC86CE64F69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769EE9FE-C7F7-4791-B5A9-5EF1007D921C}" type="datetime1">
              <a:rPr lang="de-DE" smtClean="0"/>
              <a:pPr/>
              <a:t>14.01.2026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8B990660-4B7D-4C11-96DB-B19FFA8CA93C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5897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876574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0F814-8124-931A-FDE2-45889BF6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ECB47DB-5391-FC61-5902-462138809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48431B-BBFA-79DF-D103-7FFA4CDB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B11858-684F-C776-38AE-7C8C4CFE5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426116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21E4B-C1B7-FF23-DD6A-FE73271A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C51AE92-030F-5499-6F85-B39B08EED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83075E-4339-DE34-472A-EC18FE89E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FA9A07-3181-8A76-0B07-525BA9C2C2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8729237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7571-92A7-B9F5-C127-332D32A71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D336165-3201-DCA9-C407-0B92FA9CF8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9444CD5-FDD4-E195-597D-A83F9C56B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FA9FFB-D40D-67FD-5828-C65A77A73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81811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6E55A-3EE8-012C-4BAE-D7F4DD5A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07465A-BF34-CBC0-AEDE-16083C6DB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324192-A7C1-85C8-8B35-22C586BD61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CE4A52-CDC3-CED3-368B-78CFA3041C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601634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5739-7DC5-A897-32A5-2EFCAFFB0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028B00-A3C7-2932-583A-2D973BA82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BED8DF1-3E73-7488-3DAF-7D1670B70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77F3BB-1624-4025-51FC-B409C6F0DF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43839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1122968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16079-4DD7-98F2-F0B1-468F48540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83C45EF-D622-DEBF-9263-4A587BA366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4738E01-4CF2-E14E-8240-383D33BFB0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91FB5B-38EA-DA67-8D4B-629E11C371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42657927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689252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8B990660-4B7D-4C11-96DB-B19FFA8CA93C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845341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rtlCol="0" anchor="b">
            <a:normAutofit/>
          </a:bodyPr>
          <a:lstStyle>
            <a:lvl1pPr algn="l">
              <a:defRPr lang="de-DE" sz="4000" b="1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üh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 </a:t>
            </a:r>
          </a:p>
          <a:p>
            <a:pPr lvl="3" rtl="0"/>
            <a:r>
              <a:rPr lang="de-DE"/>
              <a:t>Vierte Ebene </a:t>
            </a:r>
          </a:p>
          <a:p>
            <a:pPr lvl="4" rtl="0"/>
            <a:r>
              <a:rPr lang="de-DE"/>
              <a:t>Fünfte Ebene </a:t>
            </a:r>
          </a:p>
          <a:p>
            <a:pPr lvl="0"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800"/>
            </a:lvl1pPr>
            <a:lvl2pPr marL="457200" indent="0">
              <a:buNone/>
              <a:defRPr lang="de-DE" sz="2400"/>
            </a:lvl2pPr>
            <a:lvl3pPr marL="914400" indent="0">
              <a:buNone/>
              <a:defRPr lang="de-DE" sz="2000"/>
            </a:lvl3pPr>
            <a:lvl4pPr marL="1371600" indent="0">
              <a:buNone/>
              <a:defRPr lang="de-DE" sz="1800"/>
            </a:lvl4pPr>
            <a:lvl5pPr marL="1828800" indent="0">
              <a:buNone/>
              <a:defRPr lang="de-DE" sz="18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675" name="Textplatzhalt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buNone/>
              <a:defRPr lang="de-DE" sz="2800"/>
            </a:lvl1pPr>
            <a:lvl2pPr marL="457200" indent="0">
              <a:lnSpc>
                <a:spcPts val="2400"/>
              </a:lnSpc>
              <a:buNone/>
              <a:defRPr lang="de-DE" sz="2000"/>
            </a:lvl2pPr>
            <a:lvl3pPr marL="914400" indent="0">
              <a:lnSpc>
                <a:spcPts val="2400"/>
              </a:lnSpc>
              <a:buNone/>
              <a:defRPr lang="de-DE" sz="2000"/>
            </a:lvl3pPr>
            <a:lvl4pPr marL="1371600" indent="0">
              <a:lnSpc>
                <a:spcPts val="2400"/>
              </a:lnSpc>
              <a:buNone/>
              <a:defRPr lang="de-DE" sz="2000"/>
            </a:lvl4pPr>
            <a:lvl5pPr marL="1828800" indent="0">
              <a:lnSpc>
                <a:spcPts val="2400"/>
              </a:lnSpc>
              <a:buNone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pic>
        <p:nvPicPr>
          <p:cNvPr id="7" name="Grafik 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  <a:lvl6pPr marL="1600200">
              <a:defRPr lang="de-DE"/>
            </a:lvl6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4" rtl="0"/>
            <a:r>
              <a:rPr lang="de-DE"/>
              <a:t>Vierte Ebene</a:t>
            </a:r>
          </a:p>
          <a:p>
            <a:pPr lvl="5" rtl="0"/>
            <a:r>
              <a:rPr lang="de-DE"/>
              <a:t>Fünfte Ebene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de-DE"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lang="de-DE"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lang="de-DE"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lang="de-DE"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1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 rtlCol="0"/>
          <a:lstStyle>
            <a:lvl1pPr>
              <a:spcBef>
                <a:spcPts val="0"/>
              </a:spcBef>
              <a:spcAft>
                <a:spcPts val="1200"/>
              </a:spcAft>
              <a:defRPr lang="de-DE"/>
            </a:lvl1pPr>
            <a:lvl2pPr>
              <a:spcBef>
                <a:spcPts val="0"/>
              </a:spcBef>
              <a:spcAft>
                <a:spcPts val="600"/>
              </a:spcAft>
              <a:defRPr lang="de-DE"/>
            </a:lvl2pPr>
            <a:lvl3pPr>
              <a:spcBef>
                <a:spcPts val="0"/>
              </a:spcBef>
              <a:spcAft>
                <a:spcPts val="600"/>
              </a:spcAft>
              <a:defRPr lang="de-DE"/>
            </a:lvl3pPr>
            <a:lvl4pPr>
              <a:spcBef>
                <a:spcPts val="0"/>
              </a:spcBef>
              <a:spcAft>
                <a:spcPts val="600"/>
              </a:spcAft>
              <a:defRPr lang="de-DE" sz="2000"/>
            </a:lvl4pPr>
            <a:lvl5pPr>
              <a:spcBef>
                <a:spcPts val="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 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rtlCol="0" anchor="b">
            <a:normAutofit/>
          </a:bodyPr>
          <a:lstStyle>
            <a:lvl1pPr>
              <a:defRPr lang="de-DE" sz="2800" baseline="0"/>
            </a:lvl1pPr>
          </a:lstStyle>
          <a:p>
            <a:pPr rtl="0"/>
            <a:r>
              <a:rPr lang="de-DE"/>
              <a:t>KLICKEN, UM TITEL hinzuzufügen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lvl1pPr>
              <a:defRPr lang="de-DE" sz="1400">
                <a:latin typeface="+mj-lt"/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 rtlCol="0"/>
          <a:lstStyle>
            <a:lvl1pPr algn="r">
              <a:defRPr lang="de-DE"/>
            </a:lvl1pPr>
          </a:lstStyle>
          <a:p>
            <a:pPr rtl="0"/>
            <a:r>
              <a:rPr lang="de-DE"/>
              <a:t>Präsentationstitel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 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rtlCol="0" anchor="b">
            <a:normAutofit/>
          </a:bodyPr>
          <a:lstStyle>
            <a:lvl1pPr>
              <a:defRPr lang="de-DE" sz="4000" baseline="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de-DE"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 </a:t>
            </a:r>
          </a:p>
          <a:p>
            <a:pPr lvl="3" rtl="0"/>
            <a:r>
              <a:rPr lang="de-DE"/>
              <a:t>Vierte Ebene </a:t>
            </a:r>
          </a:p>
          <a:p>
            <a:pPr lvl="4" rtl="0"/>
            <a:r>
              <a:rPr lang="de-DE"/>
              <a:t>Fünfte Ebene </a:t>
            </a:r>
          </a:p>
          <a:p>
            <a:pPr lvl="0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grpSp>
        <p:nvGrpSpPr>
          <p:cNvPr id="815" name="Gruppieren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Präsentationstitel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000" b="1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5372524" cy="305634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Webseitenprojekt</a:t>
            </a:r>
            <a:br>
              <a:rPr lang="de-DE" dirty="0"/>
            </a:br>
            <a:br>
              <a:rPr lang="de-DE" dirty="0"/>
            </a:br>
            <a:r>
              <a:rPr lang="de-DE" dirty="0"/>
              <a:t>Kochrezepte </a:t>
            </a:r>
            <a:br>
              <a:rPr lang="de-DE" dirty="0"/>
            </a:br>
            <a:r>
              <a:rPr lang="de-DE" dirty="0"/>
              <a:t>für</a:t>
            </a:r>
            <a:br>
              <a:rPr lang="de-DE" dirty="0"/>
            </a:br>
            <a:r>
              <a:rPr lang="de-DE" dirty="0"/>
              <a:t>Entwickler</a:t>
            </a:r>
          </a:p>
        </p:txBody>
      </p:sp>
      <p:sp>
        <p:nvSpPr>
          <p:cNvPr id="2" name="Textplatzhalter 6">
            <a:extLst>
              <a:ext uri="{FF2B5EF4-FFF2-40B4-BE49-F238E27FC236}">
                <a16:creationId xmlns:a16="http://schemas.microsoft.com/office/drawing/2014/main" id="{145D7896-07D7-32E6-3365-4519EC2402CD}"/>
              </a:ext>
            </a:extLst>
          </p:cNvPr>
          <p:cNvSpPr txBox="1">
            <a:spLocks/>
          </p:cNvSpPr>
          <p:nvPr/>
        </p:nvSpPr>
        <p:spPr>
          <a:xfrm>
            <a:off x="7354321" y="6334811"/>
            <a:ext cx="4089819" cy="4463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dirty="0"/>
              <a:t>Patric Jenni  	Pascal Schmidiger</a:t>
            </a: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5430536-D522-9F5E-B2C4-24F7C7570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2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E9726B47-22F7-3A0C-9133-89F48A419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Agenda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64D48BEA-AF9C-57FC-73EB-05875050D3CA}"/>
              </a:ext>
            </a:extLst>
          </p:cNvPr>
          <p:cNvSpPr txBox="1">
            <a:spLocks/>
          </p:cNvSpPr>
          <p:nvPr/>
        </p:nvSpPr>
        <p:spPr>
          <a:xfrm>
            <a:off x="865631" y="2072640"/>
            <a:ext cx="8324089" cy="349300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CH" dirty="0"/>
              <a:t>Projektvorstellung</a:t>
            </a:r>
          </a:p>
          <a:p>
            <a:r>
              <a:rPr lang="de-CH" dirty="0"/>
              <a:t>Vorstellung Website</a:t>
            </a:r>
          </a:p>
          <a:p>
            <a:r>
              <a:rPr lang="de-CH" dirty="0" err="1"/>
              <a:t>Websitendesign</a:t>
            </a:r>
            <a:r>
              <a:rPr lang="de-CH" dirty="0"/>
              <a:t>-Sprache</a:t>
            </a:r>
          </a:p>
          <a:p>
            <a:r>
              <a:rPr lang="de-CH" dirty="0" err="1"/>
              <a:t>Accessibility</a:t>
            </a:r>
            <a:r>
              <a:rPr lang="de-CH" dirty="0"/>
              <a:t> </a:t>
            </a:r>
          </a:p>
          <a:p>
            <a:r>
              <a:rPr lang="de-CH" dirty="0" err="1"/>
              <a:t>Responsiveness</a:t>
            </a:r>
            <a:endParaRPr lang="de-CH" dirty="0"/>
          </a:p>
          <a:p>
            <a:r>
              <a:rPr lang="de-CH" dirty="0"/>
              <a:t>Extra Features</a:t>
            </a:r>
          </a:p>
          <a:p>
            <a:r>
              <a:rPr lang="de-CH" dirty="0"/>
              <a:t>Kontrollfragen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84465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889CD-F977-B0D1-E380-A8A6EAB3D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BEC3F-5F22-D63C-2AE4-EA6DF6E7D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Projektvorstellung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6320CE-D25E-FBB4-120F-C665DC18DD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warum haben Sie sich für das Projekt entschieden?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Ideale Plattform für diverse Web-Technologien</a:t>
            </a:r>
            <a:endParaRPr lang="de-CH" dirty="0"/>
          </a:p>
          <a:p>
            <a:pPr marL="457200" lvl="1" indent="0">
              <a:buNone/>
            </a:pPr>
            <a:r>
              <a:rPr lang="de-CH" dirty="0"/>
              <a:t>      Listenstrukturen, Tabellen, Formulare, Medieneinbindung</a:t>
            </a:r>
          </a:p>
          <a:p>
            <a:pPr marL="457200" lvl="1" indent="0">
              <a:buNone/>
            </a:pPr>
            <a:endParaRPr lang="de-CH" dirty="0"/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Klare, wiederverwendbare Struktur</a:t>
            </a:r>
          </a:p>
          <a:p>
            <a:pPr marL="457200" lvl="1" indent="0">
              <a:buNone/>
            </a:pPr>
            <a:r>
              <a:rPr lang="de-DE" dirty="0"/>
              <a:t>     Rezepte folgen immer demselben Muster: ideal für Template-</a:t>
            </a:r>
          </a:p>
          <a:p>
            <a:pPr marL="457200" lvl="1" indent="0">
              <a:buNone/>
            </a:pPr>
            <a:r>
              <a:rPr lang="de-DE" dirty="0"/>
              <a:t>     basierte Entwicklung.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C6DE1D-E5CD-B5AA-7370-75F8B21B6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1661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0DE9-A985-89C4-3AC5-918FCAB8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C4D66-B239-78B4-50AD-BC4C440B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/>
              <a:t>Vorstellung Website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C49255-9A14-ECF5-8EC7-5CCBE755F9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Was hat ihnen Freude bereitet?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T</a:t>
            </a:r>
            <a:r>
              <a:rPr lang="de-DE" dirty="0" err="1"/>
              <a:t>echnologische</a:t>
            </a:r>
            <a:r>
              <a:rPr lang="de-DE" dirty="0"/>
              <a:t> Vielfalt &amp; Experimentierfreiraum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Sichtbare Fortschritte und Lernkurve</a:t>
            </a:r>
          </a:p>
          <a:p>
            <a:pPr marL="457200" lvl="1" indent="0">
              <a:buNone/>
            </a:pPr>
            <a:endParaRPr lang="de-CH" dirty="0"/>
          </a:p>
          <a:p>
            <a:r>
              <a:rPr lang="de-CH" dirty="0"/>
              <a:t>Was lief weniger optimal?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CSS-Komplexität &amp; Lesbarkeit - Gemischte Ansätze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/>
              <a:t>Wenige Treffen außerhalb der Unterrichtszeit zu lasten der Koordination</a:t>
            </a:r>
            <a:endParaRPr lang="de-CH" dirty="0">
              <a:sym typeface="Wingdings" panose="05000000000000000000" pitchFamily="2" charset="2"/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984FF7-C521-4994-5D11-9A0ADDC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9586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74A39-2DBF-3C9F-1C06-7DECE11EF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FBF178-2B6B-BB17-8B3A-56B578B82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Websitendesign</a:t>
            </a:r>
            <a:r>
              <a:rPr lang="de-CH" dirty="0"/>
              <a:t>-sprache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51AE23E-9158-E3B5-88F4-A0CF74FA5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Warum haben Sie dieses Design gewählt?</a:t>
            </a:r>
          </a:p>
          <a:p>
            <a:pPr marL="0" indent="0">
              <a:buNone/>
            </a:pPr>
            <a:r>
              <a:rPr lang="de-CH" dirty="0"/>
              <a:t>	</a:t>
            </a:r>
            <a:r>
              <a:rPr lang="de-CH" dirty="0">
                <a:sym typeface="Wingdings" panose="05000000000000000000" pitchFamily="2" charset="2"/>
              </a:rPr>
              <a:t> Dunkles Design wirkt modern</a:t>
            </a:r>
            <a:br>
              <a:rPr lang="de-CH" dirty="0">
                <a:sym typeface="Wingdings" panose="05000000000000000000" pitchFamily="2" charset="2"/>
              </a:rPr>
            </a:br>
            <a:r>
              <a:rPr lang="de-CH" dirty="0">
                <a:sym typeface="Wingdings" panose="05000000000000000000" pitchFamily="2" charset="2"/>
              </a:rPr>
              <a:t>	 Ansprechende und frische Akzentfarbe</a:t>
            </a:r>
            <a:endParaRPr lang="de-CH" dirty="0"/>
          </a:p>
          <a:p>
            <a:r>
              <a:rPr lang="de-CH" dirty="0"/>
              <a:t>Welche Emotionen lässt euch das Design sie fühlen? Warum passt diese Emotion zum Projektgegenstand?</a:t>
            </a:r>
          </a:p>
          <a:p>
            <a:pPr marL="457200" lvl="1" indent="0">
              <a:buNone/>
            </a:pPr>
            <a:r>
              <a:rPr lang="de-CH" dirty="0">
                <a:sym typeface="Wingdings" panose="05000000000000000000" pitchFamily="2" charset="2"/>
              </a:rPr>
              <a:t>	Insgesamt Ansprechendes Erscheinungsbild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18742E5-EA8A-1103-65CC-212E0F897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7058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B8F8D-5AB9-F784-A2FE-858C234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B290A-E15C-F76D-9E5F-987E5D467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Accessibility</a:t>
            </a:r>
            <a:r>
              <a:rPr lang="de-CH" dirty="0"/>
              <a:t> 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676976-4385-8064-1227-6CD083C42D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 fontScale="85000" lnSpcReduction="10000"/>
          </a:bodyPr>
          <a:lstStyle>
            <a:defPPr>
              <a:defRPr lang="de-DE"/>
            </a:defPPr>
          </a:lstStyle>
          <a:p>
            <a:r>
              <a:rPr lang="de-CH" dirty="0"/>
              <a:t>welche zwei Elemente haben Ihr eingebaut und warum genau diese?</a:t>
            </a:r>
          </a:p>
          <a:p>
            <a:endParaRPr lang="de-CH" dirty="0"/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/>
              <a:t>Semantische</a:t>
            </a:r>
            <a:r>
              <a:rPr lang="fr-FR" dirty="0"/>
              <a:t> HTML-</a:t>
            </a:r>
            <a:r>
              <a:rPr lang="fr-FR" dirty="0" err="1"/>
              <a:t>Elemente</a:t>
            </a:r>
            <a:r>
              <a:rPr lang="fr-FR" dirty="0"/>
              <a:t> (&lt;</a:t>
            </a:r>
            <a:r>
              <a:rPr lang="fr-FR" dirty="0" err="1"/>
              <a:t>nav</a:t>
            </a:r>
            <a:r>
              <a:rPr lang="fr-FR" dirty="0"/>
              <a:t>&gt;, &lt;main&gt;, &lt;section&gt;, &lt;article&gt;</a:t>
            </a:r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de-DE" dirty="0"/>
              <a:t>Formular-Labels (alle Inputs haben &lt;</a:t>
            </a:r>
            <a:r>
              <a:rPr lang="de-DE" dirty="0" err="1"/>
              <a:t>label</a:t>
            </a:r>
            <a:r>
              <a:rPr lang="de-DE" dirty="0"/>
              <a:t>&gt; Elemente)</a:t>
            </a:r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en-US" dirty="0" err="1"/>
              <a:t>Iframe</a:t>
            </a:r>
            <a:r>
              <a:rPr lang="en-US" dirty="0"/>
              <a:t>-Title für YouTube-Video (title="YouTube video player“)</a:t>
            </a:r>
            <a:endParaRPr lang="de-DE" dirty="0"/>
          </a:p>
          <a:p>
            <a:pPr marL="0" indent="0">
              <a:buNone/>
            </a:pPr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de-DE" dirty="0"/>
              <a:t>Alt-Texte bei Bildern (alt="Kochbuch im Einsatz", alt="Karteikarten mit 	     Rezepten")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8FA122C-372F-AAE9-E030-B2F4B5D06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8174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0084-5493-2FF3-F93E-76C18553E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E343DC-7DF1-93F0-AE73-A38F84FEE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 err="1"/>
              <a:t>Responsiveness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8263B92-C538-6DF5-A990-E0F89FE294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39"/>
            <a:ext cx="8324089" cy="3781405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Wie haben Sie das umgesetzt?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de-DE" dirty="0" err="1"/>
              <a:t>Bulma</a:t>
            </a:r>
            <a:r>
              <a:rPr lang="de-DE" dirty="0"/>
              <a:t> Utility-Klassen:</a:t>
            </a:r>
          </a:p>
          <a:p>
            <a:pPr marL="457200" lvl="1" indent="0">
              <a:buNone/>
            </a:pPr>
            <a:r>
              <a:rPr lang="de-DE" dirty="0"/>
              <a:t>      </a:t>
            </a:r>
            <a:r>
              <a:rPr lang="de-DE" dirty="0" err="1"/>
              <a:t>Flexbox</a:t>
            </a:r>
            <a:r>
              <a:rPr lang="de-DE" dirty="0"/>
              <a:t> </a:t>
            </a:r>
            <a:r>
              <a:rPr lang="de-DE" dirty="0" err="1"/>
              <a:t>Grid</a:t>
            </a:r>
            <a:r>
              <a:rPr lang="de-DE" dirty="0"/>
              <a:t>-Klassen</a:t>
            </a:r>
          </a:p>
          <a:p>
            <a:pPr marL="457200" lvl="1" indent="0">
              <a:buNone/>
            </a:pPr>
            <a:r>
              <a:rPr lang="de-CH" dirty="0">
                <a:sym typeface="Wingdings" panose="05000000000000000000" pitchFamily="2" charset="2"/>
              </a:rPr>
              <a:t>     </a:t>
            </a:r>
            <a:r>
              <a:rPr lang="en-US" sz="1400" dirty="0">
                <a:sym typeface="Wingdings" panose="05000000000000000000" pitchFamily="2" charset="2"/>
              </a:rPr>
              <a:t>&lt;div class="cell is-one-quarter-desktop is-one-third-tablet is-half-mobile"&gt;</a:t>
            </a:r>
            <a:endParaRPr lang="de-CH" sz="1400" dirty="0">
              <a:sym typeface="Wingdings" panose="05000000000000000000" pitchFamily="2" charset="2"/>
            </a:endParaRPr>
          </a:p>
          <a:p>
            <a:pPr lvl="1"/>
            <a:endParaRPr lang="de-CH" dirty="0"/>
          </a:p>
          <a:p>
            <a:r>
              <a:rPr lang="de-CH" dirty="0"/>
              <a:t>Warum auf diesem Wege?</a:t>
            </a:r>
          </a:p>
          <a:p>
            <a:pPr lvl="1"/>
            <a:r>
              <a:rPr lang="de-CH" dirty="0"/>
              <a:t>Standartweg in </a:t>
            </a:r>
            <a:r>
              <a:rPr lang="de-CH" dirty="0" err="1"/>
              <a:t>Bulma</a:t>
            </a:r>
            <a:endParaRPr lang="de-CH" dirty="0"/>
          </a:p>
          <a:p>
            <a:pPr lvl="1"/>
            <a:r>
              <a:rPr lang="de-CH" dirty="0"/>
              <a:t>Sofort verständlich ohne CSS zu öffnen</a:t>
            </a:r>
          </a:p>
          <a:p>
            <a:pPr lvl="1"/>
            <a:r>
              <a:rPr lang="de-CH" dirty="0" err="1"/>
              <a:t>Konstistenz</a:t>
            </a:r>
            <a:r>
              <a:rPr lang="de-CH" dirty="0"/>
              <a:t> im Team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0EFCDB2-50DB-A8F2-EAB7-FFA53B1E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7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0998FD9-B7DC-D0B4-DCA2-6AD8123C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0451" y="2177592"/>
            <a:ext cx="3655608" cy="977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5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1392FF-67AF-70B5-1C3C-58D39BDF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8</a:t>
            </a:fld>
            <a:endParaRPr lang="de-DE" dirty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E29AD1DC-D15A-67B6-DBDA-28CF83522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CH" dirty="0"/>
              <a:t>Extra Features</a:t>
            </a:r>
            <a:endParaRPr lang="de-DE" dirty="0"/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B246031E-9362-D90A-6544-3D2CC67DF9AB}"/>
              </a:ext>
            </a:extLst>
          </p:cNvPr>
          <p:cNvSpPr txBox="1">
            <a:spLocks/>
          </p:cNvSpPr>
          <p:nvPr/>
        </p:nvSpPr>
        <p:spPr>
          <a:xfrm>
            <a:off x="865631" y="2072640"/>
            <a:ext cx="8324089" cy="3493008"/>
          </a:xfrm>
          <a:prstGeom prst="rect">
            <a:avLst/>
          </a:prstGeom>
        </p:spPr>
        <p:txBody>
          <a:bodyPr rtlCol="0">
            <a:normAutofit fontScale="62500" lnSpcReduction="20000"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Deployment</a:t>
            </a:r>
            <a:r>
              <a:rPr lang="de-DE" dirty="0"/>
              <a:t> und CI/CD in </a:t>
            </a:r>
            <a:r>
              <a:rPr lang="de-DE" dirty="0" err="1"/>
              <a:t>Github</a:t>
            </a:r>
            <a:endParaRPr lang="de-DE" dirty="0"/>
          </a:p>
          <a:p>
            <a:endParaRPr lang="de-DE" dirty="0"/>
          </a:p>
          <a:p>
            <a:r>
              <a:rPr lang="de-DE" dirty="0">
                <a:highlight>
                  <a:srgbClr val="FF0000"/>
                </a:highlight>
              </a:rPr>
              <a:t>(optional) Platz für extra Features, die über den normalen</a:t>
            </a:r>
          </a:p>
          <a:p>
            <a:endParaRPr lang="de-DE" dirty="0">
              <a:highlight>
                <a:srgbClr val="FF0000"/>
              </a:highlight>
            </a:endParaRPr>
          </a:p>
          <a:p>
            <a:pPr marL="0" indent="0">
              <a:buNone/>
            </a:pPr>
            <a:r>
              <a:rPr lang="de-DE" dirty="0">
                <a:highlight>
                  <a:srgbClr val="FF0000"/>
                </a:highlight>
              </a:rPr>
              <a:t> Übungsverlauf hinausgehen </a:t>
            </a:r>
            <a:r>
              <a:rPr lang="de-DE" dirty="0" err="1">
                <a:highlight>
                  <a:srgbClr val="FF0000"/>
                </a:highlight>
              </a:rPr>
              <a:t>max</a:t>
            </a:r>
            <a:r>
              <a:rPr lang="de-DE" dirty="0">
                <a:highlight>
                  <a:srgbClr val="FF0000"/>
                </a:highlight>
              </a:rPr>
              <a:t> 2 Bonus-Punkte.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dirty="0">
                <a:highlight>
                  <a:srgbClr val="FF0000"/>
                </a:highlight>
              </a:rPr>
              <a:t>Wichtig: Um die Punkte zu holen, müssen Sie etwas Technisches im Bereich HTML/CSS vorzeigen, nur mehr Text/Bilder auf die Website zu werfen genügt nicht.</a:t>
            </a:r>
            <a:br>
              <a:rPr lang="de-DE" dirty="0">
                <a:highlight>
                  <a:srgbClr val="FF0000"/>
                </a:highlight>
              </a:rPr>
            </a:br>
            <a:br>
              <a:rPr lang="de-DE" dirty="0">
                <a:highlight>
                  <a:srgbClr val="FF0000"/>
                </a:highlight>
              </a:rPr>
            </a:br>
            <a:r>
              <a:rPr lang="de-DE" dirty="0">
                <a:highlight>
                  <a:srgbClr val="FF0000"/>
                </a:highlight>
              </a:rPr>
              <a:t>Bitte beachten Sie, dass es im Verlauf der Benotung insgesamt nur 2 BP gibt, die Bonusaufgaben sollten Sie hier vorstellen. Die Vorstellung der Bonusaufgabe hier gibt dann die angegebene Bonus-Punktzahl.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948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AF6A6-D041-BC35-C7E5-0243D19EC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5633C-0CE7-AA16-56FC-C8DCE58F5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 rtlCol="0"/>
          <a:lstStyle>
            <a:defPPr>
              <a:defRPr lang="de-DE"/>
            </a:defPPr>
          </a:lstStyle>
          <a:p>
            <a:pPr lvl="0"/>
            <a:r>
              <a:rPr lang="de-CH" dirty="0"/>
              <a:t>Kontrollfragen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6BBB1C-4C0D-B6DC-0122-AB2FDE55BC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r>
              <a:rPr lang="de-CH" dirty="0"/>
              <a:t>Wie haben wir Responsives Design umgesetzt?</a:t>
            </a:r>
          </a:p>
          <a:p>
            <a:r>
              <a:rPr lang="de-CH" dirty="0">
                <a:highlight>
                  <a:srgbClr val="FF0000"/>
                </a:highlight>
              </a:rPr>
              <a:t>…..</a:t>
            </a:r>
          </a:p>
          <a:p>
            <a:r>
              <a:rPr lang="de-CH" dirty="0">
                <a:highlight>
                  <a:srgbClr val="FF0000"/>
                </a:highlight>
              </a:rPr>
              <a:t>…..</a:t>
            </a:r>
            <a:br>
              <a:rPr lang="de-CH" dirty="0"/>
            </a:br>
            <a:endParaRPr lang="de-CH" dirty="0"/>
          </a:p>
          <a:p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5E3A5B5-E447-F65E-1936-91778BF7D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B5CEABB6-07DC-46E8-9B57-56EC44A396E5}" type="slidenum">
              <a:rPr lang="de-DE" smtClean="0"/>
              <a:pPr rtl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868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441960"/>
            <a:ext cx="4615544" cy="3316893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Auswählen visueller Hilfen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Verbessern Ihrer Präsentation</a:t>
            </a:r>
          </a:p>
        </p:txBody>
      </p:sp>
    </p:spTree>
    <p:extLst>
      <p:ext uri="{BB962C8B-B14F-4D97-AF65-F5344CB8AC3E}">
        <p14:creationId xmlns:p14="http://schemas.microsoft.com/office/powerpoint/2010/main" val="4043390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Vielen Dank </a:t>
            </a:r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42511_TF16411248_Win32" id="{BA0B8D66-D66B-439B-A16C-724358E95992}" vid="{8BEFACD3-E35A-44FD-B3EA-29D825D78F8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{1D438B67-4936-4622-A4CD-218A36744BEE}tf16411248_win32</Template>
  <TotalTime>0</TotalTime>
  <Words>392</Words>
  <Application>Microsoft Office PowerPoint</Application>
  <PresentationFormat>Breitbild</PresentationFormat>
  <Paragraphs>81</Paragraphs>
  <Slides>11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Arial</vt:lpstr>
      <vt:lpstr>Avenir Next LT Pro Light</vt:lpstr>
      <vt:lpstr>Calibri</vt:lpstr>
      <vt:lpstr>Posterama</vt:lpstr>
      <vt:lpstr>Wingdings</vt:lpstr>
      <vt:lpstr>Benutzerdefiniert</vt:lpstr>
      <vt:lpstr>Webseitenprojekt  Kochrezepte  für Entwickler</vt:lpstr>
      <vt:lpstr>Agenda </vt:lpstr>
      <vt:lpstr>Projektvorstellung</vt:lpstr>
      <vt:lpstr>Vorstellung Website</vt:lpstr>
      <vt:lpstr>Websitendesign-sprache</vt:lpstr>
      <vt:lpstr>Accessibility </vt:lpstr>
      <vt:lpstr>Responsiveness</vt:lpstr>
      <vt:lpstr>Extra Features</vt:lpstr>
      <vt:lpstr>Kontrollfragen</vt:lpstr>
      <vt:lpstr>Auswählen visueller Hilfen</vt:lpstr>
      <vt:lpstr>Vielen Dank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Pascal Schmidiger</dc:creator>
  <cp:lastModifiedBy>Pascal Schmidiger</cp:lastModifiedBy>
  <cp:revision>6</cp:revision>
  <dcterms:created xsi:type="dcterms:W3CDTF">2026-01-14T19:29:37Z</dcterms:created>
  <dcterms:modified xsi:type="dcterms:W3CDTF">2026-01-14T21:05:23Z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